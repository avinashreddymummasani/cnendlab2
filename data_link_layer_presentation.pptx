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06B6D4"/>
                </a:solidFill>
              </a:defRPr>
            </a:pPr>
            <a:r>
              <a:t>COMPUTER NETWORKS  |  END ASSIGNMENT 8</a:t>
            </a:r>
          </a:p>
          <a:p>
            <a:pPr>
              <a:spcAft>
                <a:spcPts val="1000"/>
              </a:spcAft>
              <a:defRPr b="1" sz="3600">
                <a:solidFill>
                  <a:srgbClr val="F8FAFC"/>
                </a:solidFill>
              </a:defRPr>
            </a:pPr>
            <a:r>
              <a:t>Modular Data Link Layer Simulation</a:t>
            </a:r>
          </a:p>
          <a:p>
            <a:pPr>
              <a:spcAft>
                <a:spcPts val="2000"/>
              </a:spcAft>
              <a:defRPr sz="1800">
                <a:solidFill>
                  <a:srgbClr val="6366F1"/>
                </a:solidFill>
              </a:defRPr>
            </a:pPr>
            <a:r>
              <a:t>CSMA/CA (MAC)  •  Go-Back-N ARQ (Flow Control)  •  Hamming Codes (Error Control)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Full C++ Implementation, Real-Time Console Visualizer &amp; PyShark / Wireshark Packet Dissection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310896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1663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Hamming SEC (12,8)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Single-bit error correction in-place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120640"/>
            <a:ext cx="310896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516636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Go-Back-N ARQ (W=4)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Sliding window, timers &amp; rollback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120640"/>
            <a:ext cx="33832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51663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CSMA/CA + PyShark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RTS/CTS, Backoff &amp; PCAP capture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Unified Three-Pillar Data Link Layer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1. CSMA/CA (MAC)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Multiple Access Control: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Solves shared medium collision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DIFS carrier sensing (150ms)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RTS/CTS handshaking (SIFS 50ms)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NAV channel reservation timer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Binary Exponential Backoff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Random slots on busy channel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CW doubles upon collision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Solves Hidden Node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9260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59E0B"/>
                </a:solidFill>
              </a:defRPr>
            </a:pPr>
            <a:r>
              <a:t>2. Go-Back-N (Flow)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Flow &amp; Reliability Control: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Sliding Window of size W = 4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Pipelined transmission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Visual window states: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[OK] : Acknowledged frame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[~~] : In-flight frame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[  ] : Unsent frame buffer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Cumulative ACKs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300ms Timeout Detection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Automatic window rollback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3. Hamming Code (ECC)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Error Control (SEC):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Parity bits at powers of 2 (1,2,4,8)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(12, 8) systematic codeword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Injects single-bit channel flips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Syndrome Decoding at receiver: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Syndrome = 0 : Clean frame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Syndrome = k : Flip bit k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Instant in-place correction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Eliminates unnecessary retries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MULTIPLE ACCESS SUBLAYER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CSMA/CA Protocol Mechanics &amp; Collision Avoidance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Carrier Sensing &amp; Inter-Frame Spaces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DIFS (Distributed Inter-Frame Space = 150ms):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Node senses channel before attempting any transmission.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SIFS (Short Inter-Frame Space = 50ms):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High-priority gap between RTS, CTS, DATA, and ACK.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Virtual Carrier Sensing via NAV (Network Allocation Vector):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Nodes overhear RTS/CTS and defer access until NAV expires.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6366F1"/>
                </a:solidFill>
              </a:defRPr>
            </a:pPr>
            <a:r>
              <a:t>Binary Exponential Backoff Algorithm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When channel is BUSY, node does not transmit immediately.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Contention Window: CW starts at CWmin = 4 slots.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Random Backoff = uniform_random(0, CW - 1) slots.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Node counts down slot-by-slot (SLOT_MS = 30ms).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Upon collision: CW doubles: CW = min(CW * 2, CWmax = 16).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Resets back to CWmin after successful transmission.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327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RTS / CTS Handshake Workflow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Step 1: Node A sends RTS (Request to Send) to Node B (reserves medium).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Step 2: Node B replies with CTS (Clear to Send) back to Node A after SIFS.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Step 3: Other nodes (e.g. Node C) overhear CTS and update their NAV timer to stay silent.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Step 4: Node A securely transmits DATA frame with zero collision from hidden nodes.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FLOW &amp; ERROR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Go-Back-N Sliding Window ARQ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59E0B"/>
                </a:solidFill>
              </a:defRPr>
            </a:pPr>
            <a:r>
              <a:t>Sliding Window Architecture (W = 4)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Key Invariants &amp; Pointers: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base: Lowest sequence number not yet acknowledged.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nextSeq: Next sequence number to be sent.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Window Constraint: nextSeq &lt; base + WINDOW_SIZE.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Real-time Console Tracking: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[[OK] [OK] [~~] [~~] [  ] [  ]]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[OK] : Frames 0, 1 confirmed by receiver.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[~~] : Frames 2, 3 in-flight across network.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[  ] : Frames 4, 5 waiting in sender queue.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Cumulative Acknowledgment: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ACK(n) confirms all frames up to and including 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Window base slides forward continuously as ACKs arrive.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43F5E"/>
                </a:solidFill>
              </a:defRPr>
            </a:pPr>
            <a:r>
              <a:t>Timeout Handling &amp; Window Rollback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Frame Loss Scenario (Frame #3):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Frame #3 is artificially dropped on 1st transmission.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Node B receives Frame 0, 1, 2 and sends ACK 0, 1, 2.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Receiver discards out-of-order frames to guarantee in-order delivery.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The Rollback Mechanism: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Sender timer expires for unacknowledged Frame #3 (300ms).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Go-Back-N triggers: nextSeq is reset back to base (3).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Sender retransmits Frame #3, followed by 4 and 5.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Mathematical Efficiency: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Efficiency η = W / (1 + 2a), where a = Tprop / Ttrans.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Outperforms Stop-and-Wait by a factor of W on high-delay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BIT-LEVEL ERROR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Hamming (12, 8) Single Error Correction (SEC)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Parity Bit Calculation &amp; Codeword Structure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Mathematical Invariant: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Minimum parity bits r satisfies: 2^r &gt;= r + m + 1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For m = 8 data bits: r = 4 parity bits (2^4 = 16 &gt;= 13).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Total codeword length n = m + r = 12 bits.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Bit Positioning Map (1-Indexed):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Pos 1, 2, 4, 8 : Parity bits (P1, P2, P4, P8)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Pos 3, 5, 6, 7, 9, 10, 11, 12 : Data bits (D1 to D8)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Parity Bit Coverage (Even Parity):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P1 checks bits: 1, 3, 5, 7, 9, 11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P2 checks bits: 2, 3, 6, 7, 10, 11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P4 checks bits: 4, 5, 6, 7, 12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P8 checks bits: 8, 9, 10, 11,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Syndrome Decoding &amp; In-Place Correction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Syndrome Computation: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Receiver re-computes parity checks across received bits: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S = (S4 * 8) + (S3 * 4) + (S2 * 2) + S1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Decoding Decision: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If S == 0 : Transmission was error-free.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If S != 0 : Bit at position S was flipped in transit!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Simulation Demonstration (Frame #2):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Original Data    : 01101001 (8 bits)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Hamming Codeword : 010111001001 (12 bits)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Injected Error   : Bit 2 flipped (000111001001)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Receiver Syndrome: S = 2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Correction       : Invert bit at index 2 back to '1'.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Recovered Data   : 01101001 -&gt; Perfect Match!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366F1"/>
                </a:solidFill>
              </a:defRPr>
            </a:pPr>
            <a:r>
              <a:t>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Modular C++ Codebase Architecture &amp; Clean Separation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common.h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Shared Data Definitions: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Frame, Node, Channel structs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Timing intervals (SIFS, DIFS, NAV)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Test vectors (NODE_A/C_DATA)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Window size &amp; error constants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utils.h / utils.cpp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Cross-Platform Services: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Millisecond timestamps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Console header banners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sleepMs() timing simulation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JSON logger &amp; PCAP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hamming.h / hamming.cpp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Error Control Module: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calcParityBits() &amp; hammingEncode()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injectError() physical simulation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hammingDecode() &amp; extractData()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Step-by-step walkthrough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2918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59E0B"/>
                </a:solidFill>
              </a:defRPr>
            </a:pPr>
            <a:r>
              <a:t>csma_ca.h / csma_ca.cpp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Multiple Access Module: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csmaCaAccess() negotiation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randomBackoff() exponential slots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sendAck() / sendNack() handling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Node C channel contention runner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2918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20"/>
            <a:ext cx="2926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43F5E"/>
                </a:solidFill>
              </a:defRPr>
            </a:pPr>
            <a:r>
              <a:t>go_back_n.h / go_back_n.cpp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Flow Control Module: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Sliding window maintenance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printWindow() visual state bar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Timeout detection &amp; recovery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Integrated GBN transmission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3832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2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6366F1"/>
                </a:solidFill>
              </a:defRPr>
            </a:pPr>
            <a:r>
              <a:t>main.cpp &amp; build.bat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Clean Entry Point (&lt; 80 lines):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Initializes logging &amp; PCAP output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Orchestrates simulation phases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Prints execution summary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1-click compilation via build.bat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A855F7"/>
                </a:solidFill>
              </a:defRPr>
            </a:pPr>
            <a:r>
              <a:t>EXECUTION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Chronological Dry Run: 5 Key Simulation Phases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A855F7"/>
                </a:solidFill>
              </a:defRPr>
            </a:pPr>
            <a:r>
              <a:t>Complete Step-by-Step Execution Lifecycle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Phase 1: Educational Hamming Walkthrough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Encodes 8 data bits into 12-bit codeword. Injects bit flip at pos 2. Syndrome = 2 identifies &amp; corrects bit.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Phase 2: CSMA/CA Contention &amp; Normal Window Filling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Node A senses channel (DIFS 150ms) -&gt; IDLE -&gt; sends RTS -&gt; receives CTS after SIFS 50ms.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Frame 0, 1, 2, 3 sent. Channel BUSY triggers random exponential backoff slot countdowns.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Phase 3: Real-Time Error Correction (Frame #2)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Frame #2 transmitted with bit 2 corrupted. Receiver computes Syndrome = 2, corrects bit in memory, saves payload.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Phase 4: Simulated Frame Drop &amp; Go-Back-N Rollback (Frame #3)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Frame #3 lost in transit. Receiver ACKs frames 0, 1, 2 (window slides to base=3).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Frame #3 ACK times out after 300ms -&gt; Rollback triggered -&gt; Retransmits Frame #3, followed by 4 and 5.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Phase 5: Node C Multi-Node Contention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 After Node A finishes, Node C senses channel, negotiates RTS/CTS, transmits 2 frames, and receives 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PROTOCOL DISSECTION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PyShark &amp; Wireshark Native Packet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Real PCAP Binary Generation (C++)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Standard PCAP File Format (`packet_capture.pcap`):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24-byte PCAP Global Header (Magic 0xa1b2c3d4)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16-byte Packet Headers with microsecond timestamps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Multi-Layer Packet Encapsulation: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Layer 2 : Ethernet II (Dst: 02:00:00:00:00:02, Src: 02:00...)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Layer 3 : IPv4 Header (Src: 127.0.0.1, Dst: 127.0.0.2)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Layer 4 : UDP Header (Src Port: 9000, Dst Port: 9000)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Payload : Structured JSON Frame Record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Double-Click Wireshark Inspection: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Open `packet_capture.pcap` directly in Wireshark GUI!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Filter by `udp.port == 9000` to inspect packets.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10B981"/>
                </a:solidFill>
              </a:defRPr>
            </a:pPr>
            <a:r>
              <a:t>Automated PyShark Analyzer Output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Section 1: CSMA/CA Handshake Flow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Tabulates all RTS, CTS, ACK, and NACK frames.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ASCII arrow sequence diagram with DIFS gap markers.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Section 2: Sliding Window Dissection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Visual sliding window progression after each packet.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Wireshark dissection panel for every DATA frame.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Section 3: Bit-Level Hamming Verification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5-step breakdown: Raw Data -&gt; Codeword -&gt; Parity Positions</a:t>
            </a:r>
          </a:p>
          <a:p>
            <a:pPr>
              <a:spcAft>
                <a:spcPts val="400"/>
              </a:spcAft>
              <a:defRPr sz="1150">
                <a:solidFill>
                  <a:srgbClr val="94A3B8"/>
                </a:solidFill>
              </a:defRPr>
            </a:pPr>
            <a:r>
              <a:t>  -&gt; Received Bits -&gt; Correction Decision.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Final Summary &amp; Performance Metrics: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Complete count of frames, collisions avoided, and rollbacks.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RESULTS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Quantitative Results &amp; Validation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3600">
                <a:solidFill>
                  <a:srgbClr val="06B6D4"/>
                </a:solidFill>
              </a:defRPr>
            </a:pPr>
            <a:r>
              <a:t>36</a:t>
            </a:r>
          </a:p>
          <a:p>
            <a:pPr>
              <a:spcAft>
                <a:spcPts val="200"/>
              </a:spcAft>
              <a:defRPr b="1" sz="1300">
                <a:solidFill>
                  <a:srgbClr val="F8FAFC"/>
                </a:solidFill>
              </a:defRPr>
            </a:pPr>
            <a:r>
              <a:t>Total Frames Captured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18 Sent + 17 Received in PCAP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3600">
                <a:solidFill>
                  <a:srgbClr val="6366F1"/>
                </a:solidFill>
              </a:defRPr>
            </a:pPr>
            <a:r>
              <a:t>9</a:t>
            </a:r>
          </a:p>
          <a:p>
            <a:pPr>
              <a:spcAft>
                <a:spcPts val="200"/>
              </a:spcAft>
              <a:defRPr b="1" sz="1300">
                <a:solidFill>
                  <a:srgbClr val="F8FAFC"/>
                </a:solidFill>
              </a:defRPr>
            </a:pPr>
            <a:r>
              <a:t>Collisions Avoided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Prevented via RTS/CTS Handshakes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3600">
                <a:solidFill>
                  <a:srgbClr val="10B981"/>
                </a:solidFill>
              </a:defRPr>
            </a:pPr>
            <a:r>
              <a:t>1</a:t>
            </a:r>
          </a:p>
          <a:p>
            <a:pPr>
              <a:spcAft>
                <a:spcPts val="200"/>
              </a:spcAft>
              <a:defRPr b="1" sz="1300">
                <a:solidFill>
                  <a:srgbClr val="F8FAFC"/>
                </a:solidFill>
              </a:defRPr>
            </a:pPr>
            <a:r>
              <a:t>Bit Error Corrected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Identified by Syndrome = 2 (Hamming)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3600">
                <a:solidFill>
                  <a:srgbClr val="F59E0B"/>
                </a:solidFill>
              </a:defRPr>
            </a:pPr>
            <a:r>
              <a:t>1</a:t>
            </a:r>
          </a:p>
          <a:p>
            <a:pPr>
              <a:spcAft>
                <a:spcPts val="200"/>
              </a:spcAft>
              <a:defRPr b="1" sz="1300">
                <a:solidFill>
                  <a:srgbClr val="F8FAFC"/>
                </a:solidFill>
              </a:defRPr>
            </a:pPr>
            <a:r>
              <a:t>Go-Back-N Rollback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Recovered from lost Frame #3 seamlessly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3600">
                <a:solidFill>
                  <a:srgbClr val="A855F7"/>
                </a:solidFill>
              </a:defRPr>
            </a:pPr>
            <a:r>
              <a:t>0</a:t>
            </a:r>
          </a:p>
          <a:p>
            <a:pPr>
              <a:spcAft>
                <a:spcPts val="200"/>
              </a:spcAft>
              <a:defRPr b="1" sz="1300">
                <a:solidFill>
                  <a:srgbClr val="F8FAFC"/>
                </a:solidFill>
              </a:defRPr>
            </a:pPr>
            <a:r>
              <a:t>Uncorrected Errors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data loss across all transmissions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3600">
                <a:solidFill>
                  <a:srgbClr val="F43F5E"/>
                </a:solidFill>
              </a:defRPr>
            </a:pPr>
            <a:r>
              <a:t>100%</a:t>
            </a:r>
          </a:p>
          <a:p>
            <a:pPr>
              <a:spcAft>
                <a:spcPts val="200"/>
              </a:spcAft>
              <a:defRPr b="1" sz="1300">
                <a:solidFill>
                  <a:srgbClr val="F8FAFC"/>
                </a:solidFill>
              </a:defRPr>
            </a:pPr>
            <a:r>
              <a:t>In-Order Delivery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All 8 payloads delivered sequentially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366F1"/>
                </a:solidFill>
              </a:defRPr>
            </a:pPr>
            <a:r>
              <a:t>SUMMARY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8FAFC"/>
                </a:solidFill>
              </a:defRPr>
            </a:pPr>
            <a:r>
              <a:t>Key Takeaways &amp; Academic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6B6D4"/>
                </a:solidFill>
              </a:defRPr>
            </a:pPr>
            <a:r>
              <a:t>Project Key Takeaways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1. Synergy of Layer 2 Protocols: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 Multiple access, flow control, and error control work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 in harmony to guarantee reliable, collision-free delivery.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2. Practical Value of Hamming SEC: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 Fixing bit corruptions at the receiver avoids expensive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 timeout delays and window rollbacks.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3. Clean Modular Architecture: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 Replacing monolithic 800-line code with focused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 single-responsibility C++ modules enhances readability.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4. Real-World Dissection with PyShark: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 Bridging C++ simulation with Wireshark/PyShark PCAP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 allows professional packet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6366F1"/>
                </a:solidFill>
              </a:defRPr>
            </a:pPr>
            <a:r>
              <a:t>Academic &amp; Standard References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Textbooks: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A. Tanenbaum &amp; D. Wetherall, Computer Networks (5th ed.),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Ch. 3: The Data Link Layer &amp; Hamming Codes.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B. Forouzan, Data Communications and Networking (5th ed.),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Ch. 11: Data Link Control &amp; Sliding Window ARQ.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J. Kurose &amp; K. Ross, Computer Networking: A Top-Down Approach,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Ch. 6: The Link Layer and LANs.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Standards &amp; Specifications: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IEEE 802.11-2020: Wireless LAN Medium Access Control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  (MAC) and Physical Layer (PHY) Specifications.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RFC 793: Transmission Control Protocol (ARQ principles).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Wireshark &amp; PyShark API Documentation (https://kiminewt.github.io/pyshark).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